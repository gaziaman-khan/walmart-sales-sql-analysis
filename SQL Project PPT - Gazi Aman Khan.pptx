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Num_Customers</c:v>
                </c:pt>
              </c:strCache>
            </c:strRef>
          </c:tx>
          <c:explosion val="3"/>
          <c:dPt>
            <c:idx val="0"/>
            <c:bubble3D val="0"/>
            <c:explosion val="0"/>
            <c:spPr>
              <a:solidFill>
                <a:schemeClr val="accent1"/>
              </a:solidFill>
              <a:ln w="19050">
                <a:solidFill>
                  <a:schemeClr val="lt1"/>
                </a:solidFill>
              </a:ln>
              <a:effectLst/>
            </c:spPr>
            <c:extLst>
              <c:ext xmlns:c16="http://schemas.microsoft.com/office/drawing/2014/chart" uri="{C3380CC4-5D6E-409C-BE32-E72D297353CC}">
                <c16:uniqueId val="{00000001-B30F-48B3-87D9-F0AEDF1AF38A}"/>
              </c:ext>
            </c:extLst>
          </c:dPt>
          <c:dPt>
            <c:idx val="1"/>
            <c:bubble3D val="0"/>
            <c:explosion val="0"/>
            <c:spPr>
              <a:solidFill>
                <a:schemeClr val="accent2"/>
              </a:solidFill>
              <a:ln w="19050">
                <a:solidFill>
                  <a:schemeClr val="lt1"/>
                </a:solidFill>
              </a:ln>
              <a:effectLst/>
            </c:spPr>
            <c:extLst>
              <c:ext xmlns:c16="http://schemas.microsoft.com/office/drawing/2014/chart" uri="{C3380CC4-5D6E-409C-BE32-E72D297353CC}">
                <c16:uniqueId val="{00000002-B30F-48B3-87D9-F0AEDF1AF38A}"/>
              </c:ext>
            </c:extLst>
          </c:dPt>
          <c:dPt>
            <c:idx val="2"/>
            <c:bubble3D val="0"/>
            <c:explosion val="0"/>
            <c:spPr>
              <a:solidFill>
                <a:schemeClr val="accent3"/>
              </a:solidFill>
              <a:ln w="19050">
                <a:solidFill>
                  <a:schemeClr val="lt1"/>
                </a:solidFill>
              </a:ln>
              <a:effectLst/>
            </c:spPr>
            <c:extLst>
              <c:ext xmlns:c16="http://schemas.microsoft.com/office/drawing/2014/chart" uri="{C3380CC4-5D6E-409C-BE32-E72D297353CC}">
                <c16:uniqueId val="{00000003-B30F-48B3-87D9-F0AEDF1AF38A}"/>
              </c:ext>
            </c:extLst>
          </c:dPt>
          <c:cat>
            <c:strRef>
              <c:f>Sheet1!$A$2:$A$4</c:f>
              <c:strCache>
                <c:ptCount val="3"/>
                <c:pt idx="0">
                  <c:v>Low</c:v>
                </c:pt>
                <c:pt idx="1">
                  <c:v>Medium</c:v>
                </c:pt>
                <c:pt idx="2">
                  <c:v>High</c:v>
                </c:pt>
              </c:strCache>
            </c:strRef>
          </c:cat>
          <c:val>
            <c:numRef>
              <c:f>Sheet1!$B$2:$B$4</c:f>
              <c:numCache>
                <c:formatCode>General</c:formatCode>
                <c:ptCount val="3"/>
                <c:pt idx="0">
                  <c:v>569</c:v>
                </c:pt>
                <c:pt idx="1">
                  <c:v>322</c:v>
                </c:pt>
                <c:pt idx="2">
                  <c:v>109</c:v>
                </c:pt>
              </c:numCache>
            </c:numRef>
          </c:val>
          <c:extLst>
            <c:ext xmlns:c16="http://schemas.microsoft.com/office/drawing/2014/chart" uri="{C3380CC4-5D6E-409C-BE32-E72D297353CC}">
              <c16:uniqueId val="{00000000-B30F-48B3-87D9-F0AEDF1AF38A}"/>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Sales</c:v>
                </c:pt>
              </c:strCache>
            </c:strRef>
          </c:tx>
          <c:spPr>
            <a:solidFill>
              <a:schemeClr val="accent1"/>
            </a:solidFill>
            <a:ln>
              <a:noFill/>
            </a:ln>
            <a:effectLst/>
          </c:spPr>
          <c:invertIfNegative val="0"/>
          <c:cat>
            <c:strRef>
              <c:f>Sheet1!$A$2:$A$8</c:f>
              <c:strCache>
                <c:ptCount val="7"/>
                <c:pt idx="0">
                  <c:v>Saturday</c:v>
                </c:pt>
                <c:pt idx="1">
                  <c:v>Tuesday</c:v>
                </c:pt>
                <c:pt idx="2">
                  <c:v>Thursday</c:v>
                </c:pt>
                <c:pt idx="3">
                  <c:v>Sunday</c:v>
                </c:pt>
                <c:pt idx="4">
                  <c:v>Friday</c:v>
                </c:pt>
                <c:pt idx="5">
                  <c:v>Wednesday</c:v>
                </c:pt>
                <c:pt idx="6">
                  <c:v>Monday</c:v>
                </c:pt>
              </c:strCache>
            </c:strRef>
          </c:cat>
          <c:val>
            <c:numRef>
              <c:f>Sheet1!$B$2:$B$8</c:f>
              <c:numCache>
                <c:formatCode>General</c:formatCode>
                <c:ptCount val="7"/>
                <c:pt idx="0">
                  <c:v>56120.809499999901</c:v>
                </c:pt>
                <c:pt idx="1">
                  <c:v>51482.245499999997</c:v>
                </c:pt>
                <c:pt idx="2">
                  <c:v>45349.248</c:v>
                </c:pt>
                <c:pt idx="3">
                  <c:v>44457.8924999999</c:v>
                </c:pt>
                <c:pt idx="4">
                  <c:v>43926.340499999998</c:v>
                </c:pt>
                <c:pt idx="5">
                  <c:v>43731.135000000002</c:v>
                </c:pt>
                <c:pt idx="6">
                  <c:v>37899.077999999899</c:v>
                </c:pt>
              </c:numCache>
            </c:numRef>
          </c:val>
          <c:extLst>
            <c:ext xmlns:c16="http://schemas.microsoft.com/office/drawing/2014/chart" uri="{C3380CC4-5D6E-409C-BE32-E72D297353CC}">
              <c16:uniqueId val="{00000000-6168-4A60-8C0B-EC2A8EB44ABC}"/>
            </c:ext>
          </c:extLst>
        </c:ser>
        <c:dLbls>
          <c:showLegendKey val="0"/>
          <c:showVal val="0"/>
          <c:showCatName val="0"/>
          <c:showSerName val="0"/>
          <c:showPercent val="0"/>
          <c:showBubbleSize val="0"/>
        </c:dLbls>
        <c:gapWidth val="182"/>
        <c:axId val="700264848"/>
        <c:axId val="700267344"/>
      </c:barChart>
      <c:catAx>
        <c:axId val="7002648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0267344"/>
        <c:crosses val="autoZero"/>
        <c:auto val="1"/>
        <c:lblAlgn val="ctr"/>
        <c:lblOffset val="100"/>
        <c:noMultiLvlLbl val="0"/>
      </c:catAx>
      <c:valAx>
        <c:axId val="7002673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026484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9/26/2025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9/26/2025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9/26/2025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9/26/2025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9/26/2025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9/26/2025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9/26/2025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2" Type="http://schemas.openxmlformats.org/officeDocument/2006/relationships/hyperlink" Target="http://www.loom.com/share/a7a7ebe4aaa3439f96e82fa8aeef2421?sid=72244584-6bcd-426a-b8f5-1a0ec3e0cb70"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Sales Performance Analysis of Walmart Stores Using Advanced MySQL Techniques</a:t>
            </a:r>
          </a:p>
        </p:txBody>
      </p:sp>
      <p:sp>
        <p:nvSpPr>
          <p:cNvPr id="3" name="Subtitle 2"/>
          <p:cNvSpPr>
            <a:spLocks noGrp="1"/>
          </p:cNvSpPr>
          <p:nvPr>
            <p:ph type="subTitle" idx="1"/>
          </p:nvPr>
        </p:nvSpPr>
        <p:spPr/>
        <p:txBody>
          <a:bodyPr/>
          <a:lstStyle/>
          <a:p>
            <a:r>
              <a:rPr lang="en-US" dirty="0"/>
              <a:t>Name : </a:t>
            </a:r>
            <a:r>
              <a:rPr lang="en-US" dirty="0" err="1"/>
              <a:t>Gazi</a:t>
            </a:r>
            <a:r>
              <a:rPr lang="en-US" dirty="0"/>
              <a:t> </a:t>
            </a:r>
            <a:r>
              <a:rPr lang="en-US" dirty="0" err="1"/>
              <a:t>Aman</a:t>
            </a:r>
            <a:r>
              <a:rPr lang="en-US" dirty="0"/>
              <a:t> Khan</a:t>
            </a:r>
          </a:p>
          <a:p>
            <a:r>
              <a:rPr lang="en-US" dirty="0"/>
              <a:t>Course : data science (15</a:t>
            </a:r>
            <a:r>
              <a:rPr lang="en-US" baseline="30000" dirty="0"/>
              <a:t>th</a:t>
            </a:r>
            <a:r>
              <a:rPr lang="en-US" dirty="0"/>
              <a:t> may)</a:t>
            </a:r>
          </a:p>
        </p:txBody>
      </p:sp>
    </p:spTree>
    <p:extLst>
      <p:ext uri="{BB962C8B-B14F-4D97-AF65-F5344CB8AC3E}">
        <p14:creationId xmlns:p14="http://schemas.microsoft.com/office/powerpoint/2010/main" val="3541193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 Introduction and Aim</a:t>
            </a:r>
          </a:p>
        </p:txBody>
      </p:sp>
      <p:sp>
        <p:nvSpPr>
          <p:cNvPr id="3" name="Content Placeholder 2"/>
          <p:cNvSpPr>
            <a:spLocks noGrp="1"/>
          </p:cNvSpPr>
          <p:nvPr>
            <p:ph idx="1"/>
          </p:nvPr>
        </p:nvSpPr>
        <p:spPr/>
        <p:txBody>
          <a:bodyPr>
            <a:normAutofit lnSpcReduction="10000"/>
          </a:bodyPr>
          <a:lstStyle/>
          <a:p>
            <a:pPr marL="0" lvl="0" indent="0" eaLnBrk="0" fontAlgn="base" hangingPunct="0">
              <a:lnSpc>
                <a:spcPct val="100000"/>
              </a:lnSpc>
              <a:spcBef>
                <a:spcPct val="0"/>
              </a:spcBef>
              <a:spcAft>
                <a:spcPct val="0"/>
              </a:spcAft>
              <a:buClrTx/>
              <a:buSzTx/>
              <a:buNone/>
            </a:pPr>
            <a:r>
              <a:rPr lang="en-US" altLang="en-US" b="1" dirty="0">
                <a:solidFill>
                  <a:schemeClr val="tx1"/>
                </a:solidFill>
                <a:latin typeface="Arial" panose="020B0604020202020204" pitchFamily="34" charset="0"/>
              </a:rPr>
              <a:t>Walmart Sales Dataset – Overview</a:t>
            </a:r>
          </a:p>
          <a:p>
            <a:pPr marL="0" lvl="0" indent="0" eaLnBrk="0" fontAlgn="base" hangingPunct="0">
              <a:lnSpc>
                <a:spcPct val="100000"/>
              </a:lnSpc>
              <a:spcBef>
                <a:spcPct val="0"/>
              </a:spcBef>
              <a:spcAft>
                <a:spcPct val="0"/>
              </a:spcAft>
              <a:buClrTx/>
              <a:buSzTx/>
              <a:buFontTx/>
              <a:buChar char="•"/>
            </a:pPr>
            <a:r>
              <a:rPr lang="en-US" altLang="en-US" b="1" dirty="0">
                <a:solidFill>
                  <a:schemeClr val="tx1"/>
                </a:solidFill>
                <a:latin typeface="Arial" panose="020B0604020202020204" pitchFamily="34" charset="0"/>
              </a:rPr>
              <a:t>Size:</a:t>
            </a:r>
            <a:r>
              <a:rPr lang="en-US" altLang="en-US" dirty="0">
                <a:solidFill>
                  <a:schemeClr val="tx1"/>
                </a:solidFill>
                <a:latin typeface="Arial" panose="020B0604020202020204" pitchFamily="34" charset="0"/>
              </a:rPr>
              <a:t> 1,000 transaction records with </a:t>
            </a:r>
            <a:r>
              <a:rPr lang="en-US" altLang="en-US" b="1" dirty="0">
                <a:solidFill>
                  <a:schemeClr val="tx1"/>
                </a:solidFill>
                <a:latin typeface="Arial" panose="020B0604020202020204" pitchFamily="34" charset="0"/>
              </a:rPr>
              <a:t>18 columns</a:t>
            </a:r>
            <a:r>
              <a:rPr lang="en-US" altLang="en-US" dirty="0">
                <a:solidFill>
                  <a:schemeClr val="tx1"/>
                </a:solidFill>
                <a:latin typeface="Arial" panose="020B0604020202020204" pitchFamily="34" charset="0"/>
              </a:rPr>
              <a:t>.</a:t>
            </a:r>
          </a:p>
          <a:p>
            <a:pPr marL="0" lvl="0" indent="0" eaLnBrk="0" fontAlgn="base" hangingPunct="0">
              <a:lnSpc>
                <a:spcPct val="100000"/>
              </a:lnSpc>
              <a:spcBef>
                <a:spcPct val="0"/>
              </a:spcBef>
              <a:spcAft>
                <a:spcPct val="0"/>
              </a:spcAft>
              <a:buClrTx/>
              <a:buSzTx/>
              <a:buFontTx/>
              <a:buChar char="•"/>
            </a:pPr>
            <a:r>
              <a:rPr lang="en-US" altLang="en-US" b="1" dirty="0">
                <a:solidFill>
                  <a:schemeClr val="tx1"/>
                </a:solidFill>
                <a:latin typeface="Arial" panose="020B0604020202020204" pitchFamily="34" charset="0"/>
              </a:rPr>
              <a:t>Branches &amp; Cities:</a:t>
            </a:r>
            <a:r>
              <a:rPr lang="en-US" altLang="en-US" dirty="0">
                <a:solidFill>
                  <a:schemeClr val="tx1"/>
                </a:solidFill>
                <a:latin typeface="Arial" panose="020B0604020202020204" pitchFamily="34" charset="0"/>
              </a:rPr>
              <a:t> 3 branches (A, B, C) located in Yangon, Mandalay, and </a:t>
            </a:r>
            <a:r>
              <a:rPr lang="en-US" altLang="en-US" dirty="0" err="1">
                <a:solidFill>
                  <a:schemeClr val="tx1"/>
                </a:solidFill>
                <a:latin typeface="Arial" panose="020B0604020202020204" pitchFamily="34" charset="0"/>
              </a:rPr>
              <a:t>Naypyitaw</a:t>
            </a:r>
            <a:r>
              <a:rPr lang="en-US" altLang="en-US" dirty="0">
                <a:solidFill>
                  <a:schemeClr val="tx1"/>
                </a:solidFill>
                <a:latin typeface="Arial" panose="020B0604020202020204" pitchFamily="34" charset="0"/>
              </a:rPr>
              <a:t>.</a:t>
            </a:r>
          </a:p>
          <a:p>
            <a:pPr marL="0" lvl="0" indent="0" eaLnBrk="0" fontAlgn="base" hangingPunct="0">
              <a:lnSpc>
                <a:spcPct val="100000"/>
              </a:lnSpc>
              <a:spcBef>
                <a:spcPct val="0"/>
              </a:spcBef>
              <a:spcAft>
                <a:spcPct val="0"/>
              </a:spcAft>
              <a:buClrTx/>
              <a:buSzTx/>
              <a:buFontTx/>
              <a:buChar char="•"/>
            </a:pPr>
            <a:r>
              <a:rPr lang="en-US" altLang="en-US" b="1" dirty="0">
                <a:solidFill>
                  <a:schemeClr val="tx1"/>
                </a:solidFill>
                <a:latin typeface="Arial" panose="020B0604020202020204" pitchFamily="34" charset="0"/>
              </a:rPr>
              <a:t>Customer Information:</a:t>
            </a:r>
            <a:r>
              <a:rPr lang="en-US" altLang="en-US" dirty="0">
                <a:solidFill>
                  <a:schemeClr val="tx1"/>
                </a:solidFill>
                <a:latin typeface="Arial" panose="020B0604020202020204" pitchFamily="34" charset="0"/>
              </a:rPr>
              <a:t> Includes </a:t>
            </a:r>
            <a:r>
              <a:rPr lang="en-US" altLang="en-US" dirty="0">
                <a:solidFill>
                  <a:schemeClr val="tx1"/>
                </a:solidFill>
                <a:latin typeface="Arial Unicode MS"/>
              </a:rPr>
              <a:t>Customer type</a:t>
            </a:r>
            <a:r>
              <a:rPr lang="en-US" altLang="en-US" dirty="0">
                <a:solidFill>
                  <a:schemeClr val="tx1"/>
                </a:solidFill>
              </a:rPr>
              <a:t> (Member/Normal), </a:t>
            </a:r>
            <a:r>
              <a:rPr lang="en-US" altLang="en-US" dirty="0">
                <a:solidFill>
                  <a:schemeClr val="tx1"/>
                </a:solidFill>
                <a:latin typeface="Arial Unicode MS"/>
              </a:rPr>
              <a:t>Gender</a:t>
            </a:r>
            <a:r>
              <a:rPr lang="en-US" altLang="en-US" dirty="0">
                <a:solidFill>
                  <a:schemeClr val="tx1"/>
                </a:solidFill>
              </a:rPr>
              <a:t>, and unique </a:t>
            </a:r>
            <a:r>
              <a:rPr lang="en-US" altLang="en-US" dirty="0" smtClean="0">
                <a:solidFill>
                  <a:schemeClr val="tx1"/>
                </a:solidFill>
              </a:rPr>
              <a:t>  C</a:t>
            </a:r>
            <a:r>
              <a:rPr lang="en-US" altLang="en-US" dirty="0" smtClean="0">
                <a:solidFill>
                  <a:schemeClr val="tx1"/>
                </a:solidFill>
                <a:latin typeface="Arial Unicode MS"/>
              </a:rPr>
              <a:t>ustomer </a:t>
            </a:r>
            <a:r>
              <a:rPr lang="en-US" altLang="en-US" dirty="0">
                <a:solidFill>
                  <a:schemeClr val="tx1"/>
                </a:solidFill>
                <a:latin typeface="Arial Unicode MS"/>
              </a:rPr>
              <a:t>ID</a:t>
            </a:r>
            <a:r>
              <a:rPr lang="en-US" altLang="en-US" dirty="0">
                <a:solidFill>
                  <a:schemeClr val="tx1"/>
                </a:solidFill>
              </a:rPr>
              <a:t>.</a:t>
            </a: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b="1" dirty="0">
                <a:solidFill>
                  <a:schemeClr val="tx1"/>
                </a:solidFill>
                <a:latin typeface="Arial" panose="020B0604020202020204" pitchFamily="34" charset="0"/>
              </a:rPr>
              <a:t>Sales Details:</a:t>
            </a:r>
            <a:r>
              <a:rPr lang="en-US" altLang="en-US" dirty="0">
                <a:solidFill>
                  <a:schemeClr val="tx1"/>
                </a:solidFill>
                <a:latin typeface="Arial" panose="020B0604020202020204" pitchFamily="34" charset="0"/>
              </a:rPr>
              <a:t> Product category (</a:t>
            </a:r>
            <a:r>
              <a:rPr lang="en-US" altLang="en-US" dirty="0">
                <a:solidFill>
                  <a:schemeClr val="tx1"/>
                </a:solidFill>
                <a:latin typeface="Arial Unicode MS"/>
              </a:rPr>
              <a:t>Product line</a:t>
            </a:r>
            <a:r>
              <a:rPr lang="en-US" altLang="en-US" dirty="0">
                <a:solidFill>
                  <a:schemeClr val="tx1"/>
                </a:solidFill>
              </a:rPr>
              <a:t>), </a:t>
            </a:r>
            <a:r>
              <a:rPr lang="en-US" altLang="en-US" dirty="0">
                <a:solidFill>
                  <a:schemeClr val="tx1"/>
                </a:solidFill>
                <a:latin typeface="Arial Unicode MS"/>
              </a:rPr>
              <a:t>Unit price</a:t>
            </a:r>
            <a:r>
              <a:rPr lang="en-US" altLang="en-US" dirty="0">
                <a:solidFill>
                  <a:schemeClr val="tx1"/>
                </a:solidFill>
              </a:rPr>
              <a:t>, </a:t>
            </a:r>
            <a:r>
              <a:rPr lang="en-US" altLang="en-US" dirty="0">
                <a:solidFill>
                  <a:schemeClr val="tx1"/>
                </a:solidFill>
                <a:latin typeface="Arial Unicode MS"/>
              </a:rPr>
              <a:t>Quantity</a:t>
            </a:r>
            <a:r>
              <a:rPr lang="en-US" altLang="en-US" dirty="0">
                <a:solidFill>
                  <a:schemeClr val="tx1"/>
                </a:solidFill>
              </a:rPr>
              <a:t>, </a:t>
            </a:r>
            <a:r>
              <a:rPr lang="en-US" altLang="en-US" dirty="0">
                <a:solidFill>
                  <a:schemeClr val="tx1"/>
                </a:solidFill>
                <a:latin typeface="Arial Unicode MS"/>
              </a:rPr>
              <a:t>cogs</a:t>
            </a:r>
            <a:r>
              <a:rPr lang="en-US" altLang="en-US" dirty="0">
                <a:solidFill>
                  <a:schemeClr val="tx1"/>
                </a:solidFill>
              </a:rPr>
              <a:t>, </a:t>
            </a:r>
            <a:r>
              <a:rPr lang="en-US" altLang="en-US" dirty="0">
                <a:solidFill>
                  <a:schemeClr val="tx1"/>
                </a:solidFill>
                <a:latin typeface="Arial Unicode MS"/>
              </a:rPr>
              <a:t>gross income</a:t>
            </a:r>
            <a:r>
              <a:rPr lang="en-US" altLang="en-US" dirty="0">
                <a:solidFill>
                  <a:schemeClr val="tx1"/>
                </a:solidFill>
              </a:rPr>
              <a:t>, </a:t>
            </a:r>
            <a:r>
              <a:rPr lang="en-US" altLang="en-US" dirty="0">
                <a:solidFill>
                  <a:schemeClr val="tx1"/>
                </a:solidFill>
                <a:latin typeface="Arial Unicode MS"/>
              </a:rPr>
              <a:t>Total</a:t>
            </a:r>
            <a:r>
              <a:rPr lang="en-US" altLang="en-US" dirty="0">
                <a:solidFill>
                  <a:schemeClr val="tx1"/>
                </a:solidFill>
              </a:rPr>
              <a:t>, and </a:t>
            </a:r>
            <a:r>
              <a:rPr lang="en-US" altLang="en-US" dirty="0">
                <a:solidFill>
                  <a:schemeClr val="tx1"/>
                </a:solidFill>
                <a:latin typeface="Arial Unicode MS"/>
              </a:rPr>
              <a:t>Tax 5%</a:t>
            </a:r>
            <a:r>
              <a:rPr lang="en-US" altLang="en-US" dirty="0">
                <a:solidFill>
                  <a:schemeClr val="tx1"/>
                </a:solidFill>
              </a:rPr>
              <a:t>.</a:t>
            </a: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b="1" dirty="0">
                <a:solidFill>
                  <a:schemeClr val="tx1"/>
                </a:solidFill>
                <a:latin typeface="Arial" panose="020B0604020202020204" pitchFamily="34" charset="0"/>
              </a:rPr>
              <a:t>Transaction Details:</a:t>
            </a:r>
            <a:r>
              <a:rPr lang="en-US" altLang="en-US" dirty="0">
                <a:solidFill>
                  <a:schemeClr val="tx1"/>
                </a:solidFill>
                <a:latin typeface="Arial" panose="020B0604020202020204" pitchFamily="34" charset="0"/>
              </a:rPr>
              <a:t> </a:t>
            </a:r>
            <a:r>
              <a:rPr lang="en-US" altLang="en-US" dirty="0">
                <a:solidFill>
                  <a:schemeClr val="tx1"/>
                </a:solidFill>
                <a:latin typeface="Arial Unicode MS"/>
              </a:rPr>
              <a:t>Invoice ID</a:t>
            </a:r>
            <a:r>
              <a:rPr lang="en-US" altLang="en-US" dirty="0">
                <a:solidFill>
                  <a:schemeClr val="tx1"/>
                </a:solidFill>
              </a:rPr>
              <a:t>, </a:t>
            </a:r>
            <a:r>
              <a:rPr lang="en-US" altLang="en-US" dirty="0">
                <a:solidFill>
                  <a:schemeClr val="tx1"/>
                </a:solidFill>
                <a:latin typeface="Arial Unicode MS"/>
              </a:rPr>
              <a:t>Date</a:t>
            </a:r>
            <a:r>
              <a:rPr lang="en-US" altLang="en-US" dirty="0">
                <a:solidFill>
                  <a:schemeClr val="tx1"/>
                </a:solidFill>
              </a:rPr>
              <a:t>, </a:t>
            </a:r>
            <a:r>
              <a:rPr lang="en-US" altLang="en-US" dirty="0">
                <a:solidFill>
                  <a:schemeClr val="tx1"/>
                </a:solidFill>
                <a:latin typeface="Arial Unicode MS"/>
              </a:rPr>
              <a:t>Time</a:t>
            </a:r>
            <a:r>
              <a:rPr lang="en-US" altLang="en-US" dirty="0">
                <a:solidFill>
                  <a:schemeClr val="tx1"/>
                </a:solidFill>
              </a:rPr>
              <a:t>, and </a:t>
            </a:r>
            <a:r>
              <a:rPr lang="en-US" altLang="en-US" dirty="0">
                <a:solidFill>
                  <a:schemeClr val="tx1"/>
                </a:solidFill>
                <a:latin typeface="Arial Unicode MS"/>
              </a:rPr>
              <a:t>Payment method</a:t>
            </a:r>
            <a:r>
              <a:rPr lang="en-US" altLang="en-US" dirty="0">
                <a:solidFill>
                  <a:schemeClr val="tx1"/>
                </a:solidFill>
              </a:rPr>
              <a:t> (Cash, </a:t>
            </a:r>
            <a:r>
              <a:rPr lang="en-US" altLang="en-US" dirty="0" err="1">
                <a:solidFill>
                  <a:schemeClr val="tx1"/>
                </a:solidFill>
              </a:rPr>
              <a:t>Ewallet</a:t>
            </a:r>
            <a:r>
              <a:rPr lang="en-US" altLang="en-US" dirty="0">
                <a:solidFill>
                  <a:schemeClr val="tx1"/>
                </a:solidFill>
              </a:rPr>
              <a:t>, Credit Card).</a:t>
            </a: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altLang="en-US" b="1" dirty="0">
                <a:solidFill>
                  <a:schemeClr val="tx1"/>
                </a:solidFill>
                <a:latin typeface="Arial" panose="020B0604020202020204" pitchFamily="34" charset="0"/>
              </a:rPr>
              <a:t>Feedback:</a:t>
            </a:r>
            <a:r>
              <a:rPr lang="en-US" altLang="en-US" dirty="0">
                <a:solidFill>
                  <a:schemeClr val="tx1"/>
                </a:solidFill>
                <a:latin typeface="Arial" panose="020B0604020202020204" pitchFamily="34" charset="0"/>
              </a:rPr>
              <a:t> Customer </a:t>
            </a:r>
            <a:r>
              <a:rPr lang="en-US" altLang="en-US" dirty="0">
                <a:solidFill>
                  <a:schemeClr val="tx1"/>
                </a:solidFill>
                <a:latin typeface="Arial Unicode MS"/>
              </a:rPr>
              <a:t>Rating</a:t>
            </a:r>
            <a:r>
              <a:rPr lang="en-US" altLang="en-US" dirty="0">
                <a:solidFill>
                  <a:schemeClr val="tx1"/>
                </a:solidFill>
              </a:rPr>
              <a:t> (1–10 scale).</a:t>
            </a: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sz="2400" dirty="0">
              <a:solidFill>
                <a:schemeClr val="tx1"/>
              </a:solidFill>
              <a:latin typeface="Arial" panose="020B0604020202020204" pitchFamily="34" charset="0"/>
            </a:endParaRPr>
          </a:p>
          <a:p>
            <a:pPr marL="0" lvl="0" indent="0" eaLnBrk="0" fontAlgn="base" hangingPunct="0">
              <a:spcBef>
                <a:spcPct val="0"/>
              </a:spcBef>
              <a:spcAft>
                <a:spcPct val="0"/>
              </a:spcAft>
              <a:buClrTx/>
              <a:buSzTx/>
              <a:buNone/>
            </a:pPr>
            <a:r>
              <a:rPr lang="en-US" altLang="en-US" sz="2400" b="1" dirty="0">
                <a:solidFill>
                  <a:schemeClr val="tx1"/>
                </a:solidFill>
                <a:latin typeface="Arial" panose="020B0604020202020204" pitchFamily="34" charset="0"/>
              </a:rPr>
              <a:t>AIM</a:t>
            </a:r>
            <a:r>
              <a:rPr lang="en-US" altLang="en-US" sz="2400" dirty="0">
                <a:solidFill>
                  <a:schemeClr val="tx1"/>
                </a:solidFill>
                <a:latin typeface="Arial" panose="020B0604020202020204" pitchFamily="34" charset="0"/>
              </a:rPr>
              <a:t> : </a:t>
            </a:r>
            <a:r>
              <a:rPr lang="en-US" dirty="0">
                <a:latin typeface="Arial Unicode MS"/>
              </a:rPr>
              <a:t>To use advanced SQL to analyze sales performance, customer behavior, </a:t>
            </a:r>
          </a:p>
          <a:p>
            <a:pPr marL="0" lvl="0" indent="0" eaLnBrk="0" fontAlgn="base" hangingPunct="0">
              <a:spcBef>
                <a:spcPct val="0"/>
              </a:spcBef>
              <a:spcAft>
                <a:spcPct val="0"/>
              </a:spcAft>
              <a:buClrTx/>
              <a:buSzTx/>
              <a:buNone/>
            </a:pPr>
            <a:r>
              <a:rPr lang="en-US" dirty="0">
                <a:latin typeface="Arial Unicode MS"/>
              </a:rPr>
              <a:t>         and product trends.</a:t>
            </a:r>
            <a:endParaRPr lang="en-US" altLang="en-US" sz="2400" dirty="0">
              <a:solidFill>
                <a:schemeClr val="tx1"/>
              </a:solidFill>
              <a:latin typeface="Arial Unicode MS"/>
            </a:endParaRPr>
          </a:p>
          <a:p>
            <a:endParaRPr lang="en-US" dirty="0"/>
          </a:p>
        </p:txBody>
      </p:sp>
    </p:spTree>
    <p:extLst>
      <p:ext uri="{BB962C8B-B14F-4D97-AF65-F5344CB8AC3E}">
        <p14:creationId xmlns:p14="http://schemas.microsoft.com/office/powerpoint/2010/main" val="3606200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69018"/>
            <a:ext cx="10058400" cy="856397"/>
          </a:xfrm>
        </p:spPr>
        <p:txBody>
          <a:bodyPr/>
          <a:lstStyle/>
          <a:p>
            <a:r>
              <a:rPr lang="en-US" dirty="0"/>
              <a:t>Business Problem</a:t>
            </a:r>
          </a:p>
        </p:txBody>
      </p:sp>
      <p:sp>
        <p:nvSpPr>
          <p:cNvPr id="3" name="Content Placeholder 2"/>
          <p:cNvSpPr>
            <a:spLocks noGrp="1"/>
          </p:cNvSpPr>
          <p:nvPr>
            <p:ph idx="1"/>
          </p:nvPr>
        </p:nvSpPr>
        <p:spPr>
          <a:xfrm>
            <a:off x="1097280" y="1732084"/>
            <a:ext cx="10058400" cy="4154593"/>
          </a:xfrm>
        </p:spPr>
        <p:txBody>
          <a:bodyPr/>
          <a:lstStyle/>
          <a:p>
            <a:r>
              <a:rPr lang="en-US" dirty="0"/>
              <a:t>Walmart wants to optimize its sales strategies by analyzing historical transaction data across branches, customer types, payment methods, and product lines. To achieve this, advanced MySQL queries will be employed to answer challenging business questions related to sales </a:t>
            </a:r>
            <a:r>
              <a:rPr lang="en-US" dirty="0" smtClean="0"/>
              <a:t>performance</a:t>
            </a:r>
            <a:r>
              <a:rPr lang="en-US" dirty="0"/>
              <a:t>, customer segmentation, and product trends</a:t>
            </a:r>
            <a:r>
              <a:rPr lang="en-US" dirty="0" smtClean="0"/>
              <a:t>.</a:t>
            </a:r>
          </a:p>
          <a:p>
            <a:endParaRPr lang="en-US" dirty="0"/>
          </a:p>
          <a:p>
            <a:r>
              <a:rPr lang="en-US" b="1" dirty="0"/>
              <a:t>Key goals</a:t>
            </a:r>
            <a:r>
              <a:rPr lang="en-US" dirty="0"/>
              <a:t>: analyze sales growth, customer segmentation, product trends, payment behavior, repeat customers, etc.</a:t>
            </a:r>
          </a:p>
        </p:txBody>
      </p:sp>
    </p:spTree>
    <p:extLst>
      <p:ext uri="{BB962C8B-B14F-4D97-AF65-F5344CB8AC3E}">
        <p14:creationId xmlns:p14="http://schemas.microsoft.com/office/powerpoint/2010/main" val="3702752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3430" y="167054"/>
            <a:ext cx="7367954" cy="369332"/>
          </a:xfrm>
          <a:prstGeom prst="rect">
            <a:avLst/>
          </a:prstGeom>
          <a:noFill/>
        </p:spPr>
        <p:txBody>
          <a:bodyPr wrap="square" rtlCol="0">
            <a:spAutoFit/>
          </a:bodyPr>
          <a:lstStyle/>
          <a:p>
            <a:r>
              <a:rPr lang="en-US" dirty="0"/>
              <a:t>Task 1: Identifying the Top Branch by Sales Growth Rate </a:t>
            </a:r>
          </a:p>
        </p:txBody>
      </p:sp>
      <p:sp>
        <p:nvSpPr>
          <p:cNvPr id="10" name="TextBox 9"/>
          <p:cNvSpPr txBox="1"/>
          <p:nvPr/>
        </p:nvSpPr>
        <p:spPr>
          <a:xfrm>
            <a:off x="369277" y="624253"/>
            <a:ext cx="7473461" cy="5697415"/>
          </a:xfrm>
          <a:prstGeom prst="rect">
            <a:avLst/>
          </a:prstGeom>
          <a:noFill/>
        </p:spPr>
        <p:txBody>
          <a:bodyPr wrap="square" rtlCol="0">
            <a:spAutoFit/>
          </a:bodyPr>
          <a:lstStyle/>
          <a:p>
            <a:endParaRPr lang="en-US" dirty="0"/>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3102" y="4739328"/>
            <a:ext cx="3487429" cy="7910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TextBox 14"/>
          <p:cNvSpPr txBox="1"/>
          <p:nvPr/>
        </p:nvSpPr>
        <p:spPr>
          <a:xfrm>
            <a:off x="7666892" y="4255477"/>
            <a:ext cx="1740878" cy="369332"/>
          </a:xfrm>
          <a:prstGeom prst="rect">
            <a:avLst/>
          </a:prstGeom>
          <a:noFill/>
        </p:spPr>
        <p:txBody>
          <a:bodyPr wrap="square" rtlCol="0">
            <a:spAutoFit/>
          </a:bodyPr>
          <a:lstStyle/>
          <a:p>
            <a:r>
              <a:rPr lang="en-US" dirty="0" smtClean="0"/>
              <a:t>Result Table :</a:t>
            </a:r>
            <a:endParaRPr lang="en-US" dirty="0"/>
          </a:p>
        </p:txBody>
      </p:sp>
      <p:pic>
        <p:nvPicPr>
          <p:cNvPr id="19" name="Picture 18"/>
          <p:cNvPicPr>
            <a:picLocks noChangeAspect="1"/>
          </p:cNvPicPr>
          <p:nvPr/>
        </p:nvPicPr>
        <p:blipFill>
          <a:blip r:embed="rId3"/>
          <a:stretch>
            <a:fillRect/>
          </a:stretch>
        </p:blipFill>
        <p:spPr>
          <a:xfrm>
            <a:off x="318586" y="568663"/>
            <a:ext cx="6935068" cy="5067206"/>
          </a:xfrm>
          <a:prstGeom prst="rect">
            <a:avLst/>
          </a:prstGeom>
        </p:spPr>
      </p:pic>
    </p:spTree>
    <p:extLst>
      <p:ext uri="{BB962C8B-B14F-4D97-AF65-F5344CB8AC3E}">
        <p14:creationId xmlns:p14="http://schemas.microsoft.com/office/powerpoint/2010/main" val="118991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5847" y="193431"/>
            <a:ext cx="8229600" cy="369332"/>
          </a:xfrm>
          <a:prstGeom prst="rect">
            <a:avLst/>
          </a:prstGeom>
          <a:noFill/>
        </p:spPr>
        <p:txBody>
          <a:bodyPr wrap="square" rtlCol="0">
            <a:spAutoFit/>
          </a:bodyPr>
          <a:lstStyle/>
          <a:p>
            <a:r>
              <a:rPr lang="en-US"/>
              <a:t>Task 2: Finding the Most Profitable Product Line for Each Branch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6109" y="5047926"/>
            <a:ext cx="3703912" cy="8605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flipH="1">
            <a:off x="7906041" y="4545624"/>
            <a:ext cx="2284243" cy="369332"/>
          </a:xfrm>
          <a:prstGeom prst="rect">
            <a:avLst/>
          </a:prstGeom>
          <a:noFill/>
        </p:spPr>
        <p:txBody>
          <a:bodyPr wrap="square" rtlCol="0">
            <a:spAutoFit/>
          </a:bodyPr>
          <a:lstStyle/>
          <a:p>
            <a:r>
              <a:rPr lang="en-US" dirty="0" smtClean="0"/>
              <a:t>Result Table:</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858" y="692435"/>
            <a:ext cx="8563002" cy="3097050"/>
          </a:xfrm>
          <a:prstGeom prst="rect">
            <a:avLst/>
          </a:prstGeom>
        </p:spPr>
      </p:pic>
    </p:spTree>
    <p:extLst>
      <p:ext uri="{BB962C8B-B14F-4D97-AF65-F5344CB8AC3E}">
        <p14:creationId xmlns:p14="http://schemas.microsoft.com/office/powerpoint/2010/main" val="3755589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4638" y="149470"/>
            <a:ext cx="8686800" cy="369332"/>
          </a:xfrm>
          <a:prstGeom prst="rect">
            <a:avLst/>
          </a:prstGeom>
          <a:noFill/>
        </p:spPr>
        <p:txBody>
          <a:bodyPr wrap="square" rtlCol="0">
            <a:spAutoFit/>
          </a:bodyPr>
          <a:lstStyle/>
          <a:p>
            <a:r>
              <a:rPr lang="en-US"/>
              <a:t>Task 3: Analyzing Customer Segmentation Based on Spending</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467" y="627343"/>
            <a:ext cx="5964802" cy="397982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4921" y="4666046"/>
            <a:ext cx="3214583" cy="11632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8000999" y="4185138"/>
            <a:ext cx="1688123" cy="369332"/>
          </a:xfrm>
          <a:prstGeom prst="rect">
            <a:avLst/>
          </a:prstGeom>
          <a:noFill/>
        </p:spPr>
        <p:txBody>
          <a:bodyPr wrap="square" rtlCol="0">
            <a:spAutoFit/>
          </a:bodyPr>
          <a:lstStyle/>
          <a:p>
            <a:r>
              <a:rPr lang="en-US" dirty="0" smtClean="0"/>
              <a:t>Result Table:</a:t>
            </a:r>
            <a:endParaRPr lang="en-US" dirty="0"/>
          </a:p>
        </p:txBody>
      </p:sp>
      <p:graphicFrame>
        <p:nvGraphicFramePr>
          <p:cNvPr id="8" name="Chart 7"/>
          <p:cNvGraphicFramePr/>
          <p:nvPr>
            <p:extLst>
              <p:ext uri="{D42A27DB-BD31-4B8C-83A1-F6EECF244321}">
                <p14:modId xmlns:p14="http://schemas.microsoft.com/office/powerpoint/2010/main" val="462427359"/>
              </p:ext>
            </p:extLst>
          </p:nvPr>
        </p:nvGraphicFramePr>
        <p:xfrm>
          <a:off x="7086600" y="517443"/>
          <a:ext cx="4717562" cy="307861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35329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3431" y="184638"/>
            <a:ext cx="6945923" cy="369332"/>
          </a:xfrm>
          <a:prstGeom prst="rect">
            <a:avLst/>
          </a:prstGeom>
          <a:noFill/>
        </p:spPr>
        <p:txBody>
          <a:bodyPr wrap="square" rtlCol="0">
            <a:spAutoFit/>
          </a:bodyPr>
          <a:lstStyle/>
          <a:p>
            <a:r>
              <a:rPr lang="en-US"/>
              <a:t>Task 4: Detecting Anomalies in Sales Transactions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910" y="1903055"/>
            <a:ext cx="3436918" cy="428281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108" y="585816"/>
            <a:ext cx="3665538" cy="104403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0105" y="4275059"/>
            <a:ext cx="3265453" cy="17125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p:cNvSpPr txBox="1"/>
          <p:nvPr/>
        </p:nvSpPr>
        <p:spPr>
          <a:xfrm>
            <a:off x="7675685" y="3789485"/>
            <a:ext cx="1925515" cy="369332"/>
          </a:xfrm>
          <a:prstGeom prst="rect">
            <a:avLst/>
          </a:prstGeom>
          <a:noFill/>
        </p:spPr>
        <p:txBody>
          <a:bodyPr wrap="square" rtlCol="0">
            <a:spAutoFit/>
          </a:bodyPr>
          <a:lstStyle/>
          <a:p>
            <a:r>
              <a:rPr lang="en-US" dirty="0" smtClean="0"/>
              <a:t>Result Table:</a:t>
            </a:r>
            <a:endParaRPr lang="en-US" dirty="0"/>
          </a:p>
        </p:txBody>
      </p:sp>
    </p:spTree>
    <p:extLst>
      <p:ext uri="{BB962C8B-B14F-4D97-AF65-F5344CB8AC3E}">
        <p14:creationId xmlns:p14="http://schemas.microsoft.com/office/powerpoint/2010/main" val="471099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1884" y="131885"/>
            <a:ext cx="4528039" cy="369332"/>
          </a:xfrm>
          <a:prstGeom prst="rect">
            <a:avLst/>
          </a:prstGeom>
          <a:noFill/>
        </p:spPr>
        <p:txBody>
          <a:bodyPr wrap="square" rtlCol="0">
            <a:spAutoFit/>
          </a:bodyPr>
          <a:lstStyle/>
          <a:p>
            <a:r>
              <a:rPr lang="en-US"/>
              <a:t>Task 5: Most Popular Payment Method by City </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523" y="634709"/>
            <a:ext cx="7292171" cy="297892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2358" y="4646994"/>
            <a:ext cx="4251374" cy="12702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7394330" y="4176346"/>
            <a:ext cx="2321170" cy="369332"/>
          </a:xfrm>
          <a:prstGeom prst="rect">
            <a:avLst/>
          </a:prstGeom>
          <a:noFill/>
        </p:spPr>
        <p:txBody>
          <a:bodyPr wrap="square" rtlCol="0">
            <a:spAutoFit/>
          </a:bodyPr>
          <a:lstStyle/>
          <a:p>
            <a:r>
              <a:rPr lang="en-US" dirty="0" smtClean="0"/>
              <a:t>Result Table:</a:t>
            </a:r>
            <a:endParaRPr lang="en-US" dirty="0"/>
          </a:p>
        </p:txBody>
      </p:sp>
    </p:spTree>
    <p:extLst>
      <p:ext uri="{BB962C8B-B14F-4D97-AF65-F5344CB8AC3E}">
        <p14:creationId xmlns:p14="http://schemas.microsoft.com/office/powerpoint/2010/main" val="1323268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716" y="123092"/>
            <a:ext cx="4422531" cy="369332"/>
          </a:xfrm>
          <a:prstGeom prst="rect">
            <a:avLst/>
          </a:prstGeom>
          <a:noFill/>
        </p:spPr>
        <p:txBody>
          <a:bodyPr wrap="square" rtlCol="0">
            <a:spAutoFit/>
          </a:bodyPr>
          <a:lstStyle/>
          <a:p>
            <a:r>
              <a:rPr lang="en-US"/>
              <a:t>Task 6: Monthly Sales Distribution by Gender</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 y="383513"/>
            <a:ext cx="8985309" cy="3810418"/>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0035" y="4414564"/>
            <a:ext cx="4953805" cy="17048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6954715" y="3947747"/>
            <a:ext cx="2303585" cy="369332"/>
          </a:xfrm>
          <a:prstGeom prst="rect">
            <a:avLst/>
          </a:prstGeom>
          <a:noFill/>
        </p:spPr>
        <p:txBody>
          <a:bodyPr wrap="square" rtlCol="0">
            <a:spAutoFit/>
          </a:bodyPr>
          <a:lstStyle/>
          <a:p>
            <a:r>
              <a:rPr lang="en-US" dirty="0" smtClean="0"/>
              <a:t>Result Table:</a:t>
            </a:r>
            <a:endParaRPr lang="en-US" dirty="0"/>
          </a:p>
        </p:txBody>
      </p:sp>
    </p:spTree>
    <p:extLst>
      <p:ext uri="{BB962C8B-B14F-4D97-AF65-F5344CB8AC3E}">
        <p14:creationId xmlns:p14="http://schemas.microsoft.com/office/powerpoint/2010/main" val="4128989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9469" y="184639"/>
            <a:ext cx="4229100" cy="369332"/>
          </a:xfrm>
          <a:prstGeom prst="rect">
            <a:avLst/>
          </a:prstGeom>
          <a:noFill/>
        </p:spPr>
        <p:txBody>
          <a:bodyPr wrap="square" rtlCol="0">
            <a:spAutoFit/>
          </a:bodyPr>
          <a:lstStyle/>
          <a:p>
            <a:r>
              <a:rPr lang="en-US"/>
              <a:t>Task 7: Best Product Line by Customer Type</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603" y="659914"/>
            <a:ext cx="7704448" cy="265478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0064" y="5103319"/>
            <a:ext cx="5015478" cy="9897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6849207" y="4659924"/>
            <a:ext cx="2083777" cy="369332"/>
          </a:xfrm>
          <a:prstGeom prst="rect">
            <a:avLst/>
          </a:prstGeom>
          <a:noFill/>
        </p:spPr>
        <p:txBody>
          <a:bodyPr wrap="square" rtlCol="0">
            <a:spAutoFit/>
          </a:bodyPr>
          <a:lstStyle/>
          <a:p>
            <a:r>
              <a:rPr lang="en-US" dirty="0" smtClean="0"/>
              <a:t>Result Table:</a:t>
            </a:r>
            <a:endParaRPr lang="en-US" dirty="0"/>
          </a:p>
        </p:txBody>
      </p:sp>
    </p:spTree>
    <p:extLst>
      <p:ext uri="{BB962C8B-B14F-4D97-AF65-F5344CB8AC3E}">
        <p14:creationId xmlns:p14="http://schemas.microsoft.com/office/powerpoint/2010/main" val="11579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923" y="96714"/>
            <a:ext cx="3745523" cy="369332"/>
          </a:xfrm>
          <a:prstGeom prst="rect">
            <a:avLst/>
          </a:prstGeom>
          <a:noFill/>
        </p:spPr>
        <p:txBody>
          <a:bodyPr wrap="square" rtlCol="0">
            <a:spAutoFit/>
          </a:bodyPr>
          <a:lstStyle/>
          <a:p>
            <a:r>
              <a:rPr lang="en-US"/>
              <a:t>Task 8: Identifying Repeat Customers </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322" y="509588"/>
            <a:ext cx="6522210" cy="199621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9267" y="2230754"/>
            <a:ext cx="3066580" cy="38965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8405446" y="1811215"/>
            <a:ext cx="1732085" cy="369332"/>
          </a:xfrm>
          <a:prstGeom prst="rect">
            <a:avLst/>
          </a:prstGeom>
          <a:noFill/>
        </p:spPr>
        <p:txBody>
          <a:bodyPr wrap="square" rtlCol="0">
            <a:spAutoFit/>
          </a:bodyPr>
          <a:lstStyle/>
          <a:p>
            <a:r>
              <a:rPr lang="en-US" dirty="0" smtClean="0"/>
              <a:t>Result Table:</a:t>
            </a:r>
            <a:endParaRPr lang="en-US" dirty="0"/>
          </a:p>
        </p:txBody>
      </p:sp>
    </p:spTree>
    <p:extLst>
      <p:ext uri="{BB962C8B-B14F-4D97-AF65-F5344CB8AC3E}">
        <p14:creationId xmlns:p14="http://schemas.microsoft.com/office/powerpoint/2010/main" val="2067452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714" y="131883"/>
            <a:ext cx="5055577" cy="369332"/>
          </a:xfrm>
          <a:prstGeom prst="rect">
            <a:avLst/>
          </a:prstGeom>
          <a:noFill/>
        </p:spPr>
        <p:txBody>
          <a:bodyPr wrap="square" rtlCol="0">
            <a:spAutoFit/>
          </a:bodyPr>
          <a:lstStyle/>
          <a:p>
            <a:r>
              <a:rPr lang="en-US"/>
              <a:t>Task 9: Finding Top 5 Customers by Sales Volume </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21" y="571440"/>
            <a:ext cx="4243874" cy="211021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2578" y="3904906"/>
            <a:ext cx="3937949" cy="21002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7499839" y="3402623"/>
            <a:ext cx="2118946" cy="369332"/>
          </a:xfrm>
          <a:prstGeom prst="rect">
            <a:avLst/>
          </a:prstGeom>
          <a:noFill/>
        </p:spPr>
        <p:txBody>
          <a:bodyPr wrap="square" rtlCol="0">
            <a:spAutoFit/>
          </a:bodyPr>
          <a:lstStyle/>
          <a:p>
            <a:r>
              <a:rPr lang="en-US" dirty="0" smtClean="0"/>
              <a:t>Result Table:</a:t>
            </a:r>
            <a:endParaRPr lang="en-US" dirty="0"/>
          </a:p>
        </p:txBody>
      </p:sp>
    </p:spTree>
    <p:extLst>
      <p:ext uri="{BB962C8B-B14F-4D97-AF65-F5344CB8AC3E}">
        <p14:creationId xmlns:p14="http://schemas.microsoft.com/office/powerpoint/2010/main" val="3118314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8261" y="193432"/>
            <a:ext cx="5055577" cy="369332"/>
          </a:xfrm>
          <a:prstGeom prst="rect">
            <a:avLst/>
          </a:prstGeom>
          <a:noFill/>
        </p:spPr>
        <p:txBody>
          <a:bodyPr wrap="square" rtlCol="0">
            <a:spAutoFit/>
          </a:bodyPr>
          <a:lstStyle/>
          <a:p>
            <a:r>
              <a:rPr lang="en-US"/>
              <a:t>Task 10: Analyzing Sales Trends by Day of the Week</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352" y="740846"/>
            <a:ext cx="7082895" cy="2019937"/>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1132" y="3755427"/>
            <a:ext cx="3357693" cy="21442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8212015" y="3314700"/>
            <a:ext cx="1679331" cy="369332"/>
          </a:xfrm>
          <a:prstGeom prst="rect">
            <a:avLst/>
          </a:prstGeom>
          <a:noFill/>
        </p:spPr>
        <p:txBody>
          <a:bodyPr wrap="square" rtlCol="0">
            <a:spAutoFit/>
          </a:bodyPr>
          <a:lstStyle/>
          <a:p>
            <a:r>
              <a:rPr lang="en-US" dirty="0" smtClean="0"/>
              <a:t>Result Table:</a:t>
            </a:r>
            <a:endParaRPr lang="en-US" dirty="0"/>
          </a:p>
        </p:txBody>
      </p:sp>
      <p:graphicFrame>
        <p:nvGraphicFramePr>
          <p:cNvPr id="8" name="Chart 7"/>
          <p:cNvGraphicFramePr/>
          <p:nvPr>
            <p:extLst>
              <p:ext uri="{D42A27DB-BD31-4B8C-83A1-F6EECF244321}">
                <p14:modId xmlns:p14="http://schemas.microsoft.com/office/powerpoint/2010/main" val="2691250235"/>
              </p:ext>
            </p:extLst>
          </p:nvPr>
        </p:nvGraphicFramePr>
        <p:xfrm>
          <a:off x="1706685" y="3163928"/>
          <a:ext cx="4861169" cy="30961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011984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2900" y="764931"/>
            <a:ext cx="11702562" cy="646331"/>
          </a:xfrm>
          <a:prstGeom prst="rect">
            <a:avLst/>
          </a:prstGeom>
          <a:noFill/>
        </p:spPr>
        <p:txBody>
          <a:bodyPr wrap="square" rtlCol="0">
            <a:spAutoFit/>
          </a:bodyPr>
          <a:lstStyle/>
          <a:p>
            <a:r>
              <a:rPr lang="en-US" dirty="0" smtClean="0"/>
              <a:t>Explanation video link </a:t>
            </a:r>
            <a:r>
              <a:rPr lang="en-US" dirty="0"/>
              <a:t>:https://</a:t>
            </a:r>
            <a:r>
              <a:rPr lang="en-US" dirty="0">
                <a:hlinkClick r:id="rId2"/>
              </a:rPr>
              <a:t>www.loom.com/share/a7a7ebe4aaa3439f96e82fa8aeef2421?sid=72244584-6bcd-426a-b8f5-1a0ec3e0cb70</a:t>
            </a:r>
            <a:endParaRPr lang="en-US" dirty="0"/>
          </a:p>
        </p:txBody>
      </p:sp>
    </p:spTree>
    <p:extLst>
      <p:ext uri="{BB962C8B-B14F-4D97-AF65-F5344CB8AC3E}">
        <p14:creationId xmlns:p14="http://schemas.microsoft.com/office/powerpoint/2010/main" val="11860565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2066</TotalTime>
  <Words>359</Words>
  <Application>Microsoft Office PowerPoint</Application>
  <PresentationFormat>Widescreen</PresentationFormat>
  <Paragraphs>41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Unicode MS</vt:lpstr>
      <vt:lpstr>Calibri</vt:lpstr>
      <vt:lpstr>Calibri Light</vt:lpstr>
      <vt:lpstr>Retrospect</vt:lpstr>
      <vt:lpstr>Sales Performance Analysis of Walmart Stores Using Advanced MySQL Techniques</vt:lpstr>
      <vt:lpstr>Dataset Introduction and Aim</vt:lpstr>
      <vt:lpstr>Business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Performance Analysis of Walmart Stores Using Advanced MySQL Techniques</dc:title>
  <dc:creator>HP</dc:creator>
  <cp:lastModifiedBy>HP</cp:lastModifiedBy>
  <cp:revision>18</cp:revision>
  <dcterms:created xsi:type="dcterms:W3CDTF">2025-09-24T09:50:02Z</dcterms:created>
  <dcterms:modified xsi:type="dcterms:W3CDTF">2025-09-26T10:28:57Z</dcterms:modified>
</cp:coreProperties>
</file>